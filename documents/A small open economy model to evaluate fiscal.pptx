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AD2CA-841F-4509-BBD7-D97B0300F7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1DF391-D9E3-417F-A5A6-6437D8636B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D861E9-692F-4A0A-B6B2-E7EB2BC794DA}"/>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87DCB3E2-7986-42A6-8320-BA6EE3067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5CCF97-4455-4145-8DDA-F333DE5FEEE0}"/>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363081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528D-4938-41B2-9BA1-7639485C3B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155EE-E748-49E6-A8E9-3F1BC24143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D532AD-AF20-4297-A2E6-8802639D0481}"/>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559D3537-D228-4701-9958-52F0C8080C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A4D32-7A39-46B0-AD58-E1904336B3A3}"/>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3919162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E3DC0-3212-4131-A270-827A2E1A22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C757CA-84FE-4B75-A3B5-DEAEFE9250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46792D-55DC-4283-A0C8-BE6ABA94E014}"/>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23082969-FDFE-4F83-9F4D-85D432A77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40733-2E11-47F4-AE06-3B30A23B90E2}"/>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3573545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F15E-E0D8-4F4F-AF96-1DF21487DC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88029-D1AA-4898-AAE7-06A9FD6FA1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0B8AB1-61F1-4384-A29C-8F7E66719D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8CA4CE-8A9B-42D8-9D42-793E846397BC}"/>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6" name="Footer Placeholder 5">
            <a:extLst>
              <a:ext uri="{FF2B5EF4-FFF2-40B4-BE49-F238E27FC236}">
                <a16:creationId xmlns:a16="http://schemas.microsoft.com/office/drawing/2014/main" id="{680F6939-8A5D-48CB-8CA2-B943DF03E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9C5BD1-5DF9-4F5B-9628-2A53C83AE6B8}"/>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420963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BE7B-D9D7-439E-903C-87A0EDB12F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1C65B3-35E3-41FA-8EE1-98A50203B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650E8B-8909-440B-8867-74D771CB08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918A74-BFA4-4C54-B0C0-74429D90A5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8E71DA-3FEA-4C4C-A707-3E8F5AB20F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ECB649-90A1-42F1-A48D-33F10FBEBF74}"/>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8" name="Footer Placeholder 7">
            <a:extLst>
              <a:ext uri="{FF2B5EF4-FFF2-40B4-BE49-F238E27FC236}">
                <a16:creationId xmlns:a16="http://schemas.microsoft.com/office/drawing/2014/main" id="{89F237F9-20E6-41FE-B520-89B9D8CC5F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63D325-F752-4849-8F45-CEEBC2FD2C4F}"/>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4194172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99EF0-9B41-4AFE-96E3-2F36920AAD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7BACC7-2B25-4BB6-A2FB-4A336B2011CD}"/>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4" name="Footer Placeholder 3">
            <a:extLst>
              <a:ext uri="{FF2B5EF4-FFF2-40B4-BE49-F238E27FC236}">
                <a16:creationId xmlns:a16="http://schemas.microsoft.com/office/drawing/2014/main" id="{0B204C1F-659E-419A-8169-2E48A3159F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196895-39D9-46CE-994D-2FCA5B8C9E36}"/>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2316154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891B8F-D85C-4253-AB78-E58EDDEFE696}"/>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3" name="Footer Placeholder 2">
            <a:extLst>
              <a:ext uri="{FF2B5EF4-FFF2-40B4-BE49-F238E27FC236}">
                <a16:creationId xmlns:a16="http://schemas.microsoft.com/office/drawing/2014/main" id="{D7F86D83-025B-4687-8913-B7B5F32E3E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7337C0-3C65-4E02-9383-47542CAED3A0}"/>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2602540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2056-2DD4-4F52-8615-877D1FF9B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0A6AED-D4FE-4758-936C-2991B439C2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66E6FF-54BD-46C8-B5E3-480D809308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03857A-BF59-4803-82F0-8097938806EE}"/>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6" name="Footer Placeholder 5">
            <a:extLst>
              <a:ext uri="{FF2B5EF4-FFF2-40B4-BE49-F238E27FC236}">
                <a16:creationId xmlns:a16="http://schemas.microsoft.com/office/drawing/2014/main" id="{DD341C7E-7A8D-4E25-80B9-B01A63C28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775721-F631-4A44-BA5C-69B8F376C380}"/>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4080855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55B6-18B6-4E45-9BAA-E00039F80C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1C9A90-2DFC-4A7F-82F1-16F6DDDC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A684E8-71B0-4AC2-ACDC-CDA038011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D3E90-CF3F-4535-9E12-8CBF43CC539B}"/>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6" name="Footer Placeholder 5">
            <a:extLst>
              <a:ext uri="{FF2B5EF4-FFF2-40B4-BE49-F238E27FC236}">
                <a16:creationId xmlns:a16="http://schemas.microsoft.com/office/drawing/2014/main" id="{EBA89FE3-4966-485E-AD89-7E82AADEE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48D1-28B7-425B-B16E-F12AC65BE24F}"/>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265022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7BDD9-818D-4D79-9471-7F60B8EEBE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1F9C69-5EC9-4928-A558-6D6392335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0BEF2F-3FA2-4990-BA8A-4136834E7EC4}"/>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44AB441E-C4C7-477A-B5A6-67AA36721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65172-9361-4CCB-ADD7-9F12B47BB9F9}"/>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2086798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25D650-259A-48B5-974F-357C48A201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5B228D-2068-401F-AD5B-0CCA69B394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8CD96-32E8-4327-A56B-7DFE8F60F6AA}"/>
              </a:ext>
            </a:extLst>
          </p:cNvPr>
          <p:cNvSpPr>
            <a:spLocks noGrp="1"/>
          </p:cNvSpPr>
          <p:nvPr>
            <p:ph type="dt" sz="half" idx="10"/>
          </p:nvPr>
        </p:nvSpPr>
        <p:spPr/>
        <p:txBody>
          <a:body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A5DD526E-7DE0-45F7-ADAC-C411D787E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FDF4E-CC81-441F-8483-678825A8F344}"/>
              </a:ext>
            </a:extLst>
          </p:cNvPr>
          <p:cNvSpPr>
            <a:spLocks noGrp="1"/>
          </p:cNvSpPr>
          <p:nvPr>
            <p:ph type="sldNum" sz="quarter" idx="12"/>
          </p:nvPr>
        </p:nvSpPr>
        <p:spPr/>
        <p:txBody>
          <a:bodyPr/>
          <a:lstStyle/>
          <a:p>
            <a:fld id="{00A82F23-239F-46A1-B801-6CAF078AF936}" type="slidenum">
              <a:rPr lang="en-US" smtClean="0"/>
              <a:t>‹#›</a:t>
            </a:fld>
            <a:endParaRPr lang="en-US"/>
          </a:p>
        </p:txBody>
      </p:sp>
    </p:spTree>
    <p:extLst>
      <p:ext uri="{BB962C8B-B14F-4D97-AF65-F5344CB8AC3E}">
        <p14:creationId xmlns:p14="http://schemas.microsoft.com/office/powerpoint/2010/main" val="56510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A150A-E53F-4FA0-B5FD-D5D5F9C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94ADE-8422-4A4D-9B15-9C65051211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95835-F961-451D-877A-527A93393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E78F68-3AD9-4367-A67A-66512C28922E}" type="datetimeFigureOut">
              <a:rPr lang="en-US" smtClean="0"/>
              <a:t>3/8/2022</a:t>
            </a:fld>
            <a:endParaRPr lang="en-US"/>
          </a:p>
        </p:txBody>
      </p:sp>
      <p:sp>
        <p:nvSpPr>
          <p:cNvPr id="5" name="Footer Placeholder 4">
            <a:extLst>
              <a:ext uri="{FF2B5EF4-FFF2-40B4-BE49-F238E27FC236}">
                <a16:creationId xmlns:a16="http://schemas.microsoft.com/office/drawing/2014/main" id="{32D128DC-A4C3-4A06-B741-0CA1FD8BA5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BC0A2A-6A46-4FC6-A831-6288A27773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A82F23-239F-46A1-B801-6CAF078AF936}" type="slidenum">
              <a:rPr lang="en-US" smtClean="0"/>
              <a:t>‹#›</a:t>
            </a:fld>
            <a:endParaRPr lang="en-US"/>
          </a:p>
        </p:txBody>
      </p:sp>
      <p:sp>
        <p:nvSpPr>
          <p:cNvPr id="7" name="MSIPCMContentMarking" descr="{&quot;HashCode&quot;:320688167,&quot;Placement&quot;:&quot;Header&quot;,&quot;Top&quot;:0.0,&quot;Left&quot;:0.0,&quot;SlideWidth&quot;:960,&quot;SlideHeight&quot;:540}">
            <a:extLst>
              <a:ext uri="{FF2B5EF4-FFF2-40B4-BE49-F238E27FC236}">
                <a16:creationId xmlns:a16="http://schemas.microsoft.com/office/drawing/2014/main" id="{9138C307-AB37-49D1-9163-2375989B63EE}"/>
              </a:ext>
            </a:extLst>
          </p:cNvPr>
          <p:cNvSpPr txBox="1"/>
          <p:nvPr userDrawn="1"/>
        </p:nvSpPr>
        <p:spPr>
          <a:xfrm>
            <a:off x="0" y="0"/>
            <a:ext cx="2204311" cy="279435"/>
          </a:xfrm>
          <a:prstGeom prst="rect">
            <a:avLst/>
          </a:prstGeom>
          <a:noFill/>
        </p:spPr>
        <p:txBody>
          <a:bodyPr vert="horz" wrap="square" lIns="0" tIns="0" rIns="0" bIns="0" rtlCol="0" anchor="ctr" anchorCtr="1">
            <a:spAutoFit/>
          </a:bodyPr>
          <a:lstStyle/>
          <a:p>
            <a:pPr algn="l">
              <a:spcBef>
                <a:spcPts val="0"/>
              </a:spcBef>
              <a:spcAft>
                <a:spcPts val="0"/>
              </a:spcAft>
            </a:pPr>
            <a:r>
              <a:rPr lang="en-US" sz="1100">
                <a:solidFill>
                  <a:srgbClr val="000000"/>
                </a:solidFill>
                <a:latin typeface="Calibri" panose="020F0502020204030204" pitchFamily="34" charset="0"/>
              </a:rPr>
              <a:t>NONCONFIDENTIAL // EXTERNAL</a:t>
            </a:r>
          </a:p>
        </p:txBody>
      </p:sp>
    </p:spTree>
    <p:extLst>
      <p:ext uri="{BB962C8B-B14F-4D97-AF65-F5344CB8AC3E}">
        <p14:creationId xmlns:p14="http://schemas.microsoft.com/office/powerpoint/2010/main" val="1463766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DA617-C2E8-41ED-B8D5-29D8B424A055}"/>
              </a:ext>
            </a:extLst>
          </p:cNvPr>
          <p:cNvSpPr>
            <a:spLocks noGrp="1"/>
          </p:cNvSpPr>
          <p:nvPr>
            <p:ph type="ctrTitle"/>
          </p:nvPr>
        </p:nvSpPr>
        <p:spPr/>
        <p:txBody>
          <a:bodyPr>
            <a:normAutofit fontScale="90000"/>
          </a:bodyPr>
          <a:lstStyle/>
          <a:p>
            <a:r>
              <a:rPr lang="en-US" dirty="0"/>
              <a:t>A small open economy model of a commodity-producing country to evaluate fiscal consolidations</a:t>
            </a:r>
          </a:p>
        </p:txBody>
      </p:sp>
      <p:sp>
        <p:nvSpPr>
          <p:cNvPr id="3" name="Subtitle 2">
            <a:extLst>
              <a:ext uri="{FF2B5EF4-FFF2-40B4-BE49-F238E27FC236}">
                <a16:creationId xmlns:a16="http://schemas.microsoft.com/office/drawing/2014/main" id="{10C1DCBD-ADD8-4B8E-8847-EFCA2A75CAF9}"/>
              </a:ext>
            </a:extLst>
          </p:cNvPr>
          <p:cNvSpPr>
            <a:spLocks noGrp="1"/>
          </p:cNvSpPr>
          <p:nvPr>
            <p:ph type="subTitle" idx="1"/>
          </p:nvPr>
        </p:nvSpPr>
        <p:spPr/>
        <p:txBody>
          <a:bodyPr>
            <a:normAutofit/>
          </a:bodyPr>
          <a:lstStyle/>
          <a:p>
            <a:r>
              <a:rPr lang="en-US" dirty="0"/>
              <a:t>Manuel González-</a:t>
            </a:r>
            <a:r>
              <a:rPr lang="en-US" dirty="0" err="1"/>
              <a:t>Astudillo</a:t>
            </a:r>
            <a:r>
              <a:rPr lang="en-US" dirty="0"/>
              <a:t>, Juan Guerra-Salas and </a:t>
            </a:r>
            <a:r>
              <a:rPr lang="en-US" dirty="0" err="1"/>
              <a:t>Avi</a:t>
            </a:r>
            <a:r>
              <a:rPr lang="en-US" dirty="0"/>
              <a:t> Lipton</a:t>
            </a:r>
          </a:p>
          <a:p>
            <a:endParaRPr lang="en-US" dirty="0"/>
          </a:p>
          <a:p>
            <a:r>
              <a:rPr lang="en-US" sz="1300" dirty="0"/>
              <a:t>The views expressed in this presentation belong to the authors and should not be interpreted as representing the views of the Board of Governors of the Federal Reserve System or the Central Bank of Chile</a:t>
            </a:r>
          </a:p>
        </p:txBody>
      </p:sp>
    </p:spTree>
    <p:extLst>
      <p:ext uri="{BB962C8B-B14F-4D97-AF65-F5344CB8AC3E}">
        <p14:creationId xmlns:p14="http://schemas.microsoft.com/office/powerpoint/2010/main" val="3531790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F605-ADD1-4941-ACDB-09A7463EB773}"/>
              </a:ext>
            </a:extLst>
          </p:cNvPr>
          <p:cNvSpPr>
            <a:spLocks noGrp="1"/>
          </p:cNvSpPr>
          <p:nvPr>
            <p:ph type="title"/>
          </p:nvPr>
        </p:nvSpPr>
        <p:spPr/>
        <p:txBody>
          <a:bodyPr/>
          <a:lstStyle/>
          <a:p>
            <a:r>
              <a:rPr lang="en-US" dirty="0"/>
              <a:t>Features of the model</a:t>
            </a:r>
          </a:p>
        </p:txBody>
      </p:sp>
      <p:sp>
        <p:nvSpPr>
          <p:cNvPr id="3" name="Content Placeholder 2">
            <a:extLst>
              <a:ext uri="{FF2B5EF4-FFF2-40B4-BE49-F238E27FC236}">
                <a16:creationId xmlns:a16="http://schemas.microsoft.com/office/drawing/2014/main" id="{6765938B-B579-4096-B863-9620FD34EE58}"/>
              </a:ext>
            </a:extLst>
          </p:cNvPr>
          <p:cNvSpPr>
            <a:spLocks noGrp="1"/>
          </p:cNvSpPr>
          <p:nvPr>
            <p:ph idx="1"/>
          </p:nvPr>
        </p:nvSpPr>
        <p:spPr/>
        <p:txBody>
          <a:bodyPr>
            <a:normAutofit lnSpcReduction="10000"/>
          </a:bodyPr>
          <a:lstStyle/>
          <a:p>
            <a:r>
              <a:rPr lang="en-US" dirty="0"/>
              <a:t>Small open economy: The interest rate prevailing in the economy is the world’s interest rate plus a country premium.</a:t>
            </a:r>
          </a:p>
          <a:p>
            <a:pPr lvl="1"/>
            <a:r>
              <a:rPr lang="en-US" dirty="0"/>
              <a:t>The country premium depends on the aggregate level (private &amp; public) of external debt.</a:t>
            </a:r>
          </a:p>
          <a:p>
            <a:r>
              <a:rPr lang="en-US" dirty="0"/>
              <a:t>There are two types of agents:</a:t>
            </a:r>
          </a:p>
          <a:p>
            <a:pPr lvl="1"/>
            <a:r>
              <a:rPr lang="en-US" dirty="0"/>
              <a:t>Optimizers who can borrow and lend to smooth out consumption (30% of the population)</a:t>
            </a:r>
          </a:p>
          <a:p>
            <a:pPr lvl="1"/>
            <a:r>
              <a:rPr lang="en-US" dirty="0"/>
              <a:t>Restricted or hand-to-mouth who can consume only their current income (70% of the population)</a:t>
            </a:r>
          </a:p>
          <a:p>
            <a:r>
              <a:rPr lang="en-US" dirty="0"/>
              <a:t>Oil production with a revenue share that belongs to the government; the rest is exported.</a:t>
            </a:r>
          </a:p>
        </p:txBody>
      </p:sp>
    </p:spTree>
    <p:extLst>
      <p:ext uri="{BB962C8B-B14F-4D97-AF65-F5344CB8AC3E}">
        <p14:creationId xmlns:p14="http://schemas.microsoft.com/office/powerpoint/2010/main" val="2895237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F605-ADD1-4941-ACDB-09A7463EB773}"/>
              </a:ext>
            </a:extLst>
          </p:cNvPr>
          <p:cNvSpPr>
            <a:spLocks noGrp="1"/>
          </p:cNvSpPr>
          <p:nvPr>
            <p:ph type="title"/>
          </p:nvPr>
        </p:nvSpPr>
        <p:spPr/>
        <p:txBody>
          <a:bodyPr/>
          <a:lstStyle/>
          <a:p>
            <a:r>
              <a:rPr lang="en-US" dirty="0"/>
              <a:t>Features of the model</a:t>
            </a:r>
          </a:p>
        </p:txBody>
      </p:sp>
      <p:sp>
        <p:nvSpPr>
          <p:cNvPr id="3" name="Content Placeholder 2">
            <a:extLst>
              <a:ext uri="{FF2B5EF4-FFF2-40B4-BE49-F238E27FC236}">
                <a16:creationId xmlns:a16="http://schemas.microsoft.com/office/drawing/2014/main" id="{6765938B-B579-4096-B863-9620FD34EE58}"/>
              </a:ext>
            </a:extLst>
          </p:cNvPr>
          <p:cNvSpPr>
            <a:spLocks noGrp="1"/>
          </p:cNvSpPr>
          <p:nvPr>
            <p:ph idx="1"/>
          </p:nvPr>
        </p:nvSpPr>
        <p:spPr/>
        <p:txBody>
          <a:bodyPr/>
          <a:lstStyle/>
          <a:p>
            <a:r>
              <a:rPr lang="en-US" dirty="0"/>
              <a:t>A medium-rich fiscal sector:</a:t>
            </a:r>
          </a:p>
          <a:p>
            <a:pPr lvl="1"/>
            <a:r>
              <a:rPr lang="en-US" dirty="0"/>
              <a:t>Government investment (public capital enters the production function of the private sector)</a:t>
            </a:r>
          </a:p>
          <a:p>
            <a:pPr lvl="1"/>
            <a:r>
              <a:rPr lang="en-US" dirty="0"/>
              <a:t>Government consumption (that enters the consumption basket of the private sector)</a:t>
            </a:r>
          </a:p>
          <a:p>
            <a:pPr lvl="1"/>
            <a:r>
              <a:rPr lang="en-US" dirty="0"/>
              <a:t>Government transfers (that are 100% paid to the restricted agents)</a:t>
            </a:r>
          </a:p>
          <a:p>
            <a:pPr lvl="1"/>
            <a:r>
              <a:rPr lang="en-US" dirty="0"/>
              <a:t>Labor income tax (charged 100% to the optimizer agents)</a:t>
            </a:r>
          </a:p>
          <a:p>
            <a:pPr lvl="1"/>
            <a:r>
              <a:rPr lang="en-US" dirty="0"/>
              <a:t>Capital income tax (100% disbursed by the optimizers agents because they </a:t>
            </a:r>
            <a:r>
              <a:rPr lang="en-US"/>
              <a:t>own capital)</a:t>
            </a:r>
            <a:endParaRPr lang="en-US" dirty="0"/>
          </a:p>
          <a:p>
            <a:pPr lvl="1"/>
            <a:r>
              <a:rPr lang="en-US" dirty="0"/>
              <a:t>Consumption tax (charged on all agents)</a:t>
            </a:r>
          </a:p>
        </p:txBody>
      </p:sp>
    </p:spTree>
    <p:extLst>
      <p:ext uri="{BB962C8B-B14F-4D97-AF65-F5344CB8AC3E}">
        <p14:creationId xmlns:p14="http://schemas.microsoft.com/office/powerpoint/2010/main" val="3142474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9190-8EEB-4270-9586-C01462C49974}"/>
              </a:ext>
            </a:extLst>
          </p:cNvPr>
          <p:cNvSpPr>
            <a:spLocks noGrp="1"/>
          </p:cNvSpPr>
          <p:nvPr>
            <p:ph type="title"/>
          </p:nvPr>
        </p:nvSpPr>
        <p:spPr/>
        <p:txBody>
          <a:bodyPr/>
          <a:lstStyle/>
          <a:p>
            <a:r>
              <a:rPr lang="en-US" dirty="0"/>
              <a:t>Goal of the meeting</a:t>
            </a:r>
          </a:p>
        </p:txBody>
      </p:sp>
      <p:sp>
        <p:nvSpPr>
          <p:cNvPr id="3" name="Content Placeholder 2">
            <a:extLst>
              <a:ext uri="{FF2B5EF4-FFF2-40B4-BE49-F238E27FC236}">
                <a16:creationId xmlns:a16="http://schemas.microsoft.com/office/drawing/2014/main" id="{96D6EF4C-0253-4663-9856-8B3808C07287}"/>
              </a:ext>
            </a:extLst>
          </p:cNvPr>
          <p:cNvSpPr>
            <a:spLocks noGrp="1"/>
          </p:cNvSpPr>
          <p:nvPr>
            <p:ph idx="1"/>
          </p:nvPr>
        </p:nvSpPr>
        <p:spPr/>
        <p:txBody>
          <a:bodyPr/>
          <a:lstStyle/>
          <a:p>
            <a:r>
              <a:rPr lang="en-US" dirty="0"/>
              <a:t>To gather trajectories of the following variables over a horizon of 5 years so that we can evaluate the program with the IMF:</a:t>
            </a:r>
          </a:p>
          <a:p>
            <a:pPr lvl="1"/>
            <a:r>
              <a:rPr lang="en-US" dirty="0"/>
              <a:t>Government consumption (as a share of GDP or in absolute values)</a:t>
            </a:r>
          </a:p>
          <a:p>
            <a:pPr lvl="1"/>
            <a:r>
              <a:rPr lang="en-US" dirty="0"/>
              <a:t>Government investment</a:t>
            </a:r>
          </a:p>
          <a:p>
            <a:pPr lvl="1"/>
            <a:r>
              <a:rPr lang="en-US" dirty="0"/>
              <a:t>Government transfers</a:t>
            </a:r>
          </a:p>
          <a:p>
            <a:pPr lvl="1"/>
            <a:r>
              <a:rPr lang="en-US" dirty="0"/>
              <a:t>The expected increase in revenues from each of the tax changes</a:t>
            </a:r>
          </a:p>
        </p:txBody>
      </p:sp>
    </p:spTree>
    <p:extLst>
      <p:ext uri="{BB962C8B-B14F-4D97-AF65-F5344CB8AC3E}">
        <p14:creationId xmlns:p14="http://schemas.microsoft.com/office/powerpoint/2010/main" val="249420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297</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A small open economy model of a commodity-producing country to evaluate fiscal consolidations</vt:lpstr>
      <vt:lpstr>Features of the model</vt:lpstr>
      <vt:lpstr>Features of the model</vt:lpstr>
      <vt:lpstr>Goal of the meeting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small open economy model to evaluate fiscal consolodations</dc:title>
  <dc:creator>Manuel Gonzalez-Astudillo</dc:creator>
  <cp:lastModifiedBy>Manuel Gonzalez-Astudillo</cp:lastModifiedBy>
  <cp:revision>13</cp:revision>
  <dcterms:created xsi:type="dcterms:W3CDTF">2022-03-08T20:21:49Z</dcterms:created>
  <dcterms:modified xsi:type="dcterms:W3CDTF">2022-03-09T00:04:00Z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0453f6f1-b8ca-48e0-94f1-dc3c5c533df5</vt:lpwstr>
  </property>
  <property fmtid="{D5CDD505-2E9C-101B-9397-08002B2CF9AE}" pid="3" name="MSIP_Label_3cbab4f1-dcc8-4800-b101-70f2ebeb2cf4_Enabled">
    <vt:lpwstr>true</vt:lpwstr>
  </property>
  <property fmtid="{D5CDD505-2E9C-101B-9397-08002B2CF9AE}" pid="4" name="MSIP_Label_3cbab4f1-dcc8-4800-b101-70f2ebeb2cf4_SetDate">
    <vt:lpwstr>2022-03-09T00:04:00Z</vt:lpwstr>
  </property>
  <property fmtid="{D5CDD505-2E9C-101B-9397-08002B2CF9AE}" pid="5" name="MSIP_Label_3cbab4f1-dcc8-4800-b101-70f2ebeb2cf4_Method">
    <vt:lpwstr>Privileged</vt:lpwstr>
  </property>
  <property fmtid="{D5CDD505-2E9C-101B-9397-08002B2CF9AE}" pid="6" name="MSIP_Label_3cbab4f1-dcc8-4800-b101-70f2ebeb2cf4_Name">
    <vt:lpwstr>NONCONFIDENTIAL - EXTERNAL</vt:lpwstr>
  </property>
  <property fmtid="{D5CDD505-2E9C-101B-9397-08002B2CF9AE}" pid="7" name="MSIP_Label_3cbab4f1-dcc8-4800-b101-70f2ebeb2cf4_SiteId">
    <vt:lpwstr>87bb2570-5c1e-4973-9c37-09257a95aeb1</vt:lpwstr>
  </property>
  <property fmtid="{D5CDD505-2E9C-101B-9397-08002B2CF9AE}" pid="8" name="MSIP_Label_3cbab4f1-dcc8-4800-b101-70f2ebeb2cf4_ActionId">
    <vt:lpwstr>ccebd1de-de4b-4a06-914b-4435901aa2c9</vt:lpwstr>
  </property>
  <property fmtid="{D5CDD505-2E9C-101B-9397-08002B2CF9AE}" pid="9" name="MSIP_Label_3cbab4f1-dcc8-4800-b101-70f2ebeb2cf4_ContentBits">
    <vt:lpwstr>1</vt:lpwstr>
  </property>
</Properties>
</file>